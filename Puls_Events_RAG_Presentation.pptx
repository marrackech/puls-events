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Présentez-vous : Haroun, data scientist freelance. Mission : créer un chatbot RAG pour Puls-Events.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les 8 grandes parties. Durée totale visée : 10-12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problème métier avant de parler technique. Les équipes marketing comprennent le problème utilisateur, pas les vecteurs.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Expliquez le RAG en partant de l'analogie du bibliothécaire. Évitez 'embedding' et 'vecteur' si vous parlez à des non-techniciens.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le flux de gauche à droite. Insistez sur la séparation pipeline offline (indexation) vs online (requête).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Précisez que les données sont publiques (Open Agenda est libre d'accès). La diversité des agendas explique pourquoi certaines thématiques sont mieux couvertes que d'autres.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Justifiez chaque choix en termes de contraintes du POC : rapidité, coût, portabilité. Anticipez la question 'pourquoi pas OpenAI ?' ou 'pourquoi pas Pinecone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Distinguez bien offline (long, fait une seule fois) et online (rapide, à chaque question). La vectorisation de 777 événements prend ~2 minutes, une requête prend ~2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le Swagger live si possible. Insistez sur la gestion des erreurs : question vide → 400, rebuild échoue → 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mocking : les tests ne consomment pas de quota API et tournent sans connexion internet. C'est essentiel pour un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fort à mettre en avant : 0 réponse incorrecte. Le système préfère répondre partiellement plutôt que d'inventer.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la commande docker run en live. L'image est déjà buildée. Si colima n'est pas démarré, faites-le avant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Préparez les 3 commandes curl dans un terminal. Assurez-vous que Docker tourne avant la démo. Plan B : montrez les réponses déjà obtenues en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Priorisez les améliorations selon l'impact métier. Le corpus enrichi et les filtres avancés sont les plus importants pour les équipes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Terminez sur une question ouverte à l'audience : 'Quelles autres villes ou thématiques aimeriez-vous couvrir en premier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4091940"/>
            <a:ext cx="1318399" cy="1074420"/>
          </a:xfrm>
          <a:prstGeom prst="ellipse">
            <a:avLst/>
          </a:prstGeom>
          <a:solidFill>
            <a:srgbClr val="C4A882">
              <a:alpha val="40000"/>
            </a:srgbClr>
          </a:solidFill>
          <a:ln w="12700">
            <a:solidFill>
              <a:srgbClr val="C4A8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-457200"/>
            <a:ext cx="1645920" cy="1645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</a:rPr>
              <a:t>PULS-EVENTS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Assistant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Intelligent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4A882"/>
                </a:solidFill>
              </a:rPr>
              <a:t>pour la recommandation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4A882"/>
                </a:solidFill>
              </a:rPr>
              <a:t>d'événements culturels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Haroun — Data Scientist Freelance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7355"/>
                </a:solidFill>
              </a:rPr>
              <a:t>POC — Proof of Concept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</a:rPr>
              <a:t>Système RAG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</a:rPr>
              <a:t>Retrieval-Augmented Generation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41064" y="301752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017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7355"/>
                </a:solidFill>
              </a:rPr>
              <a:t>FAISS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76088" y="30175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7355"/>
                </a:solidFill>
              </a:rPr>
              <a:t>Mistral 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300837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3017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7355"/>
                </a:solidFill>
              </a:rPr>
              <a:t>FastAPI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9921" y="300837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3017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7355"/>
                </a:solidFill>
              </a:rPr>
              <a:t>Docker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6560"/>
                </a:solidFill>
              </a:rPr>
              <a:t>Juin</a:t>
            </a:r>
            <a:r>
              <a:rPr lang="en-US" sz="900" dirty="0">
                <a:solidFill>
                  <a:srgbClr val="6B6560"/>
                </a:solidFill>
              </a:rPr>
              <a:t> 2026</a:t>
            </a:r>
          </a:p>
          <a:p>
            <a:pPr marL="0" indent="0">
              <a:buNone/>
            </a:pPr>
            <a:endParaRPr lang="en-US" sz="900" dirty="0">
              <a:solidFill>
                <a:srgbClr val="6B65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</a:rPr>
              <a:t>Au programme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380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Contexte &amp; Objectifs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Le problème métier et la solution RAG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94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233172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249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Architecture du système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Vue d'ensemble des composants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63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320040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Données utilisées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Open Agenda — 777 événements parisiens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406908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Choix technologiques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FAISS, Mistral, FastAPI, Docker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13258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3258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0" y="146304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380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Pipeline 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Du texte au vecteur à la réponse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1945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194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0" y="233172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249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API REST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Endpoints /ask /rebuild /health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30632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063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86400" y="320040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Tests &amp; Couverture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2356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100% couverture — 35 tests unitaires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39319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931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A882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86400" y="4069080"/>
            <a:ext cx="0" cy="41148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Évaluation &amp; Résultats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</a:rPr>
              <a:t>Score 0.8995 — 0 réponse incorrecte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01 — CONTEXTE &amp;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Le problème métier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0EDE6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389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</a:rPr>
              <a:t>Le problème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Des centaines d'événements culturels disponibles à Paris chaque semaine.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 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Les utilisateurs peinent à trouver rapidement les événements qui correspondent à leurs envies.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 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C2C2C"/>
                </a:solidFill>
              </a:rPr>
              <a:t>Les moteurs de recherche classiques ne comprennent pas le sens des requêtes — ils cherchent des mots-clés, pas des intentions.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40680" y="1389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solution RAG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Un assistant conversationnel qui comprend le sens des questions en langage naturel.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Il recherche les événements les plus pertinents par similarité sémantique (FAISS).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Et génère une réponse claire et contextualisée (Mistral Large).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01 — CONTEXTE &amp;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Qu'est-ce qu'un système RAG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60"/>
                </a:solidFill>
              </a:rPr>
              <a:t>Retrieval-Augmented Generation = Génération augmentée par récupération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3154680"/>
          </a:xfrm>
          <a:prstGeom prst="roundRect">
            <a:avLst>
              <a:gd name="adj" fmla="val 4138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1874520"/>
            <a:ext cx="548640" cy="54864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</a:rPr>
              <a:t>Retrieval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</a:rPr>
              <a:t>(Récupération)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</a:rPr>
              <a:t>La question est transformée en vecteur numérique. FAISS trouve les événements les plus proches sémantiquement dans l'index.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5468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A88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2651760" cy="3154680"/>
          </a:xfrm>
          <a:prstGeom prst="roundRect">
            <a:avLst>
              <a:gd name="adj" fmla="val 4138"/>
            </a:avLst>
          </a:prstGeom>
          <a:solidFill>
            <a:srgbClr val="8B7355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8745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7355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Augmentation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(Enrichissement)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2004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Les événements trouvés sont injectés dans un prompt structuré qui donne le contexte au LLM.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A88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2651760" cy="3154680"/>
          </a:xfrm>
          <a:prstGeom prst="roundRect">
            <a:avLst>
              <a:gd name="adj" fmla="val 4138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69480" y="1874520"/>
            <a:ext cx="548640" cy="54864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</a:rPr>
              <a:t>Generation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</a:rPr>
              <a:t>(Génération)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2004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</a:rPr>
              <a:t>Mistral Large lit le contexte et rédige une réponse naturelle, précise et ancrée dans les vraies données.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560"/>
                </a:solidFill>
              </a:rPr>
              <a:t>Analogie : un bibliothécaire expert qui lit les bons livres avant de vous répondre.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02 — ARCHITECTURE DU SYSTÈME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Vue d'ensemble de l'architecture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017520" y="114300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1795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Utilisateur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490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Question en langage naturel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34840" y="180136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7355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19659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0025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REST — FastAPI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2D9"/>
                </a:solidFill>
              </a:rPr>
              <a:t>/ask  /rebuild  /health  /docs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26243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7355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278892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8254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Système RAG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2D9"/>
                </a:solidFill>
              </a:rPr>
              <a:t>Embed → Recherche FAISS → Génération Mistral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Index FAISS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904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560"/>
                </a:solidFill>
              </a:rPr>
              <a:t>777 vecteurs — dim. 1024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3520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Mistral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904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A882"/>
                </a:solidFill>
              </a:rPr>
              <a:t>mistral-embed + mistral-large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7160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6560"/>
                </a:solidFill>
              </a:rPr>
              <a:t>recherche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54480" y="3493008"/>
            <a:ext cx="1463040" cy="365760"/>
          </a:xfrm>
          <a:prstGeom prst="line">
            <a:avLst/>
          </a:prstGeom>
          <a:noFill/>
          <a:ln w="12700">
            <a:solidFill>
              <a:srgbClr val="C4A8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6560"/>
                </a:solidFill>
              </a:rPr>
              <a:t>génération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3493008"/>
            <a:ext cx="274320" cy="365760"/>
          </a:xfrm>
          <a:prstGeom prst="line">
            <a:avLst/>
          </a:prstGeom>
          <a:noFill/>
          <a:ln w="12700">
            <a:solidFill>
              <a:srgbClr val="C4A8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F0EDE6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560"/>
                </a:solidFill>
              </a:rPr>
              <a:t>Pipeline données  →  Open Agenda API  →  fetch_events.py  →  build_index.py  →  vectorstore/faiss_index/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03 — DONNÉES UTILISÉES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777 événements culturels parisiens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777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Événements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indexés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Agendas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parisiens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1 an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Historique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juin 25 → 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6656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Champs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par événement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</a:rPr>
              <a:t>Agendas collectés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2918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Diocèse de Paris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Événements religieux et concerts sacrés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5818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JASS CLUB PARIS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Jazz et musiques actuelles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114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Maison de l'Europe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8600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Conférences et débats européens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58114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526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Univ. Paris-Saclay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0" y="4526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Séminaires et conférences académiques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334670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2918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Librairie de Paris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Rencontres et événements littéraires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75818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FICEP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7512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Événements culturels étrangers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416966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4114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GPSO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Événements culturels du Grand Paris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4581144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4526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Conservatoires GPSO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75120" y="4526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Concerts et ateliers musicaux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04 — CHOIX TECHNOLOGIQUES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Pourquoi ces technologies 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FAISS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IndexFlatL2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Recherche vectorielle rapide et locale. Aucune infrastructure cloud requise pour le POC. Remplaçable par Pinecone en production.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Mistral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325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mistral-embed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mistral-large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LLM et embeddings performants, excellent support du français, crédits gratuits adaptés au POC.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624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FastAPI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262432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v0.111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Documentation Swagger auto-générée, validation Pydantic, performance asynchrone native.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53288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624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Docker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0" y="262432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python:3.11-slim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Déploiement reproductible sur n'importe quelle machine. Garantit que l'API fonctionne partout.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31336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9227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pytest + cov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3922776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100%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42885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Tests unitaires avec mocking des API externes. Couverture totale pour garantir la maintenabilité.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831336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9227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Open Agenda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32320" y="3922776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API v2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42885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Données publiques, gratuites, structurées. 777 événements récents couvrant Paris.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05 — PIPELINE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Du texte brut à la réponse générée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355"/>
                </a:solidFill>
              </a:rPr>
              <a:t>Phase 1 — Indexation (offline)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Open Agenda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A882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536192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5361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data/events.csv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(777 lignes)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A882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536192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361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Mistral Embed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(dim. 1024)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A882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536192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8B7355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5361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 FAISS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(vectorstore/)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8229600" cy="0"/>
          </a:xfrm>
          <a:prstGeom prst="line">
            <a:avLst/>
          </a:prstGeom>
          <a:noFill/>
          <a:ln w="12700">
            <a:solidFill>
              <a:srgbClr val="E8E2D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355"/>
                </a:solidFill>
              </a:rPr>
              <a:t>Phase 2 — Interrogation (online, temps réel)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Question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utilisateur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3127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A882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21408" y="29260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Embed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(Mistral)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75888" y="3127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A882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77056" y="29260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77056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Top-5 FAISS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(similarité)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31536" y="3127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A882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32704" y="29260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32704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Prompt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enrichi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87184" y="3127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A882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88352" y="29260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8B7355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Réponse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générée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Format d'un chunk indexé 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0EDE6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Titre: Concert COGE   |   Description: Concert de musique sacrée...   |   Lieu: Église Saint-Marcel   |   Ville: Paris   |   Date: 2026-06-20T20:00:00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06 — API REST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Une API REST documentée et robuste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0" y="1362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307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Vérification de l'API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6184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Retourne le statut et le nom du service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267712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677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157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État du système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468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Statut + nombre d'événements indexés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118104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181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Poser une question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3192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Entrée : question (string) → Réponse + sources JSON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968496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684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3913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/rebuild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08960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Reconstruire l'index FAISS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41696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</a:rPr>
              <a:t>Relance la pipeline d'indexation complète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0EDE6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451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</a:rPr>
              <a:t>📖  Documentation Swagger interactive disponible sur http://localhost:8000/docs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07 — TESTS &amp; COUVERTURE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100% de couverture — 35 tests unitaires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749040"/>
          </a:xfrm>
          <a:prstGeom prst="roundRect">
            <a:avLst>
              <a:gd name="adj" fmla="val 2439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61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Rapport de couverture (pytest-cov)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api/main.py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1664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50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71907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719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scripts/build_index.py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44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2249424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249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24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scripts/fetch_events.py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7249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64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27797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552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scripts/rag.py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3255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51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331012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310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730752"/>
            <a:ext cx="4389120" cy="0"/>
          </a:xfrm>
          <a:prstGeom prst="line">
            <a:avLst/>
          </a:prstGeom>
          <a:noFill/>
          <a:ln w="12700">
            <a:solidFill>
              <a:srgbClr val="E8E2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856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37856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209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86200" y="38404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94960" y="114300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1261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Stratégie de test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89320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Mocking total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1984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</a:rPr>
              <a:t>Mistral &amp; Open Agenda mockés → tests sans internet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778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89320" y="2514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Isolation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2807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</a:rPr>
              <a:t>Chaque fonction testée indépendamment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778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8932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35 tests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9320" y="3630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</a:rPr>
              <a:t>API, RAG, données, pipeline complet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7784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89320" y="4160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Cas limites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4453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</a:rPr>
              <a:t>Questions vides, erreurs réseau, rebuild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08 — ÉVALUATION &amp;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Qualité des réponses générées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0.8995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Score moyen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similarité cosinus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6/10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Correctes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score ≥ 0.90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4/10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Partielles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score ≥ 0.75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307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7355"/>
                </a:solidFill>
              </a:rPr>
              <a:t>0/10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6656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Incorrectes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60"/>
                </a:solidFill>
              </a:rPr>
              <a:t>score &lt; 0.75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Méthode d'évaluation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291840"/>
            <a:ext cx="137160" cy="13716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10 questions annotées manuellement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" y="3611880"/>
            <a:ext cx="137160" cy="13716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566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Réponse générée par le RAG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" y="3931920"/>
            <a:ext cx="137160" cy="13716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886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Embedding des 2 réponses (Mistral)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" y="4251960"/>
            <a:ext cx="137160" cy="13716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206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Similarité cosinus → score 0 à 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" y="4572000"/>
            <a:ext cx="137160" cy="13716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526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Script evaluate_rag.py automatisé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2788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Seuils d'évaluation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15468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26440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264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≥ 0.90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3264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Correcte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8587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≥ 0.75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Partielle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34340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445312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453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&lt; 0.75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06440" y="4453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Incorrecte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Aucune réponse incorrecte — le système ne génère jamais de contenu hors-sujet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09 — DÉPLOIEMENT DOCKER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Conteneurisé et prêt au déploiement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508760"/>
          </a:xfrm>
          <a:prstGeom prst="roundRect">
            <a:avLst>
              <a:gd name="adj" fmla="val 7273"/>
            </a:avLst>
          </a:prstGeom>
          <a:solidFill>
            <a:srgbClr val="F0EDE6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355"/>
                </a:solidFill>
              </a:rPr>
              <a:t>Image Docker : puls-events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</a:rPr>
              <a:t>python:3.11-slim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03120" y="187452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A882"/>
                </a:solidFill>
              </a:rPr>
              <a:t>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95144" y="162763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95144" y="16276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</a:rPr>
              <a:t>requirements.txt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12464" y="187452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A882"/>
                </a:solidFill>
              </a:rPr>
              <a:t>+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04488" y="162763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16276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</a:rPr>
              <a:t>scripts/ + api/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21808" y="187452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A882"/>
                </a:solidFill>
              </a:rPr>
              <a:t>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13832" y="162763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16276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</a:rPr>
              <a:t>vectorstore/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31152" y="187452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A882"/>
                </a:solidFill>
              </a:rPr>
              <a:t>+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23176" y="162763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16276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</a:rPr>
              <a:t>CMD: uvicorn :8000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Commandes de déploiement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7355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colima start --dns 8.8.8.8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build -t puls-events .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-p 8000:8000 --env-file .env puls-events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581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</a:rPr>
              <a:t>Reproductible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4791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560"/>
                </a:solidFill>
              </a:rPr>
              <a:t>Fonctionne identiquement sur Mac, Linux, serveur cloud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37560" y="455371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40480" y="4581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</a:rPr>
              <a:t>Isolé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4791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560"/>
                </a:solidFill>
              </a:rPr>
              <a:t>Pas de conflit de versions — Python 3.11 garanti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455371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4581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</a:rPr>
              <a:t>Deployable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4791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560"/>
                </a:solidFill>
              </a:rPr>
              <a:t>1 commande pour démarrer l'API en production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7355"/>
                </a:solidFill>
              </a:rPr>
              <a:t>DÉMONSTRATION LIVE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Démo en conditions réelles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60"/>
                </a:solidFill>
              </a:rPr>
              <a:t>L'API tourne dans un conteneur Docker — 3 scénarios d'usage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755648"/>
            <a:ext cx="457200" cy="45720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627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Recherche par type d'événement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"Quels concerts sont prévus à Paris ?"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194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60"/>
                </a:solidFill>
              </a:rPr>
              <a:t>→ Liste des concerts COGE à l'Église Saint-Marcel + Requiem de Fauré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852928"/>
            <a:ext cx="457200" cy="45720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724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Recherche par date précise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"Quels événements sont prévus le 20 juin 2026 ?"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291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60"/>
                </a:solidFill>
              </a:rPr>
              <a:t>→ Concert COGE le 20 juin 2026 de 20h à 23h — le système filtre la bonne date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950208"/>
            <a:ext cx="457200" cy="45720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8221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Recherche thématique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a-t-il des événements jazz à Paris ?"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4389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60"/>
                </a:solidFill>
              </a:rPr>
              <a:t>→ Événements du JASS CLUB PARIS avec descriptions et détails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http://localhost:8000/ask -H 'Content-Type: application/json' -d '{"question": "..."}'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</a:rPr>
              <a:t>10 —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Pistes d'amélioration prioritaires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</a:rPr>
              <a:t>Enrichissement du corpus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134416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3441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HAUTE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1792" y="17099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Ajouter + d'agendas et couvrir d'autres villes → score évaluation +5 pts estimé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0328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67528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</a:rPr>
              <a:t>Chunking avancé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01000" y="134416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3441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HAUTE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65192" y="17099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Découper les longues descriptions en chunks fins → meilleure précision de recherche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578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</a:rPr>
              <a:t>Filtres avancés dans l'API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257860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5786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HAUTE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1792" y="29443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Filtrer par date, lieu, type dans /ask → meilleure UX pour les équipes métier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4688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0328" y="2578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67528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</a:rPr>
              <a:t>Index FAISS optimisé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01000" y="257860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25786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MOYENNE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965192" y="29443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IndexIVFFlat ou HNSW → 10x plus rapide sur des millions d'événements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24128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</a:rPr>
              <a:t>Évaluation RAGAS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0" y="381304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8130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MOYENNE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1792" y="417880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Faithfulness + Answer Relevancy + Context Recall → métriques production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7033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5F2ED"/>
          </a:solidFill>
          <a:ln w="12700">
            <a:solidFill>
              <a:srgbClr val="E8E2D9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10328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67528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</a:rPr>
              <a:t>CI/CD GitHub Actions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01000" y="381304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38130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BASSE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65192" y="417880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</a:rPr>
              <a:t>Tests + évaluation automatique à chaque push sur la branche main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B73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C4A882">
              <a:alpha val="30000"/>
            </a:srgbClr>
          </a:solidFill>
          <a:ln w="12700">
            <a:solidFill>
              <a:srgbClr val="C4A8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4A882"/>
                </a:solidFill>
              </a:rPr>
              <a:t>PULS-EVENTS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Un POC complet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et fonctionnel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777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82"/>
                </a:solidFill>
              </a:rPr>
              <a:t>événements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5176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82"/>
                </a:solidFill>
              </a:rPr>
              <a:t>couverture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0.8995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82"/>
                </a:solidFill>
              </a:rPr>
              <a:t>score RAG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82"/>
                </a:solidFill>
              </a:rPr>
              <a:t>incorrectes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80467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A882"/>
                </a:solidFill>
              </a:rPr>
              <a:t>Prêt pour un déploiement élargi avec Docker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Haroun — Data Scientist Freelance  |  Juin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1686</Words>
  <Application>Microsoft Macintosh PowerPoint</Application>
  <PresentationFormat>Affichage à l'écran (16:9)</PresentationFormat>
  <Paragraphs>360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Puls-Events — Assistant RAG</dc:title>
  <dc:subject>PptxGenJS Presentation</dc:subject>
  <dc:creator>Haroun</dc:creator>
  <cp:lastModifiedBy>Mac3</cp:lastModifiedBy>
  <cp:revision>2</cp:revision>
  <dcterms:created xsi:type="dcterms:W3CDTF">2026-06-15T20:35:23Z</dcterms:created>
  <dcterms:modified xsi:type="dcterms:W3CDTF">2026-06-16T08:53:25Z</dcterms:modified>
</cp:coreProperties>
</file>